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6" autoAdjust="0"/>
    <p:restoredTop sz="94660"/>
  </p:normalViewPr>
  <p:slideViewPr>
    <p:cSldViewPr snapToGrid="0">
      <p:cViewPr varScale="1">
        <p:scale>
          <a:sx n="86" d="100"/>
          <a:sy n="86" d="100"/>
        </p:scale>
        <p:origin x="270" y="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E168C6-E75F-FAE7-1E63-8C1BB69DFF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5FA48F2-96E0-FC69-3384-90916D38FA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9908C3E-72FA-46D3-4747-659034676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A2176-9FF2-4D08-8957-9726144C4418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38BA3A1-AB92-7881-B17E-834D3F3B5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48B881D-193C-85B9-F5F9-59F854814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2CBDE-E393-4847-B9F1-B7BF5FA244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0615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86A626-4F17-73DB-441F-9A31BF96A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F8D260A-944E-20BA-E528-EA9343D48B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D299F9F-4D8A-0AF1-82DD-256679C6F4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A2176-9FF2-4D08-8957-9726144C4418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05C4D9E-A65A-52AD-C391-74B92E301C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EADA610-972A-968E-833D-DF49F0590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2CBDE-E393-4847-B9F1-B7BF5FA244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6268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AA2F0B-C448-AD3C-39EC-A791B41EF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1E4E7FB-56AB-C1C3-B5B8-3F86A2A341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E94343C-A3F4-D168-4476-B065D045F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A2176-9FF2-4D08-8957-9726144C4418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E6E5313-51D0-CA5F-A849-98FED8580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B604854-1544-C81F-151A-2B14DAC84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2CBDE-E393-4847-B9F1-B7BF5FA244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8628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975F65-7634-BEDB-EC2C-BAB7E3209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01393D2-86DF-142E-A815-476A13E8ED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C9CBD3F-3022-CAAD-5A5D-1C5813C190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AA5D582-AB2E-321A-D141-B37D47036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A2176-9FF2-4D08-8957-9726144C4418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A7CBF0C-B5B6-C2B1-E2D4-04367E0ADC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1896F6A-F277-1EA7-B61A-4785A2A52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2CBDE-E393-4847-B9F1-B7BF5FA244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0949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39CA6F-C1B7-BE84-8DCD-389EFBD848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A7F5DB4-9A6F-6C00-50DD-080ED6A24F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A14FF6C-B7E7-4006-5426-980F099ABE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0BADF2F-A256-0479-4929-46E95148E8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4A2084A9-B220-1F64-44E7-093DF4B4E2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3E5DDE37-A877-DAA1-074F-E28AFEA8DB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A2176-9FF2-4D08-8957-9726144C4418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B555178B-148E-E41A-4288-BB86A86D94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E80C3A8C-B0ED-51F4-DB83-0AB07CF02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2CBDE-E393-4847-B9F1-B7BF5FA244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9635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9DE588-0CB7-931C-FD18-E35ED6F473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8DF5D450-3A35-FCA0-B510-288D82733E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A2176-9FF2-4D08-8957-9726144C4418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E8950C4-4BD0-FAAB-A9F6-E1E86B7579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DCBD2BA-3A0C-DF27-70AD-DF0E97AF0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2CBDE-E393-4847-B9F1-B7BF5FA244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6482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72466B44-3C98-E8EF-AFFF-E05035B6E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A2176-9FF2-4D08-8957-9726144C4418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BE4F674A-EC91-B7D2-3564-8B745E53E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B8E519C-77E7-AC63-F5CD-BC6387CE5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2CBDE-E393-4847-B9F1-B7BF5FA244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0759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43D058-DBA0-D6FD-0099-25D1304A79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3991349-E39B-CC49-A671-D3314E8EFA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2FA7A78-7240-2437-3AC9-A1413B8EFF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C493AEC-357E-3AC7-7D10-7C3775BA58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A2176-9FF2-4D08-8957-9726144C4418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E8A18AE-DA59-B3FA-FEE5-0FDA493F7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0D4E106-1EBC-A9ED-F676-EC234EA7F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2CBDE-E393-4847-B9F1-B7BF5FA244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6889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1ED900-F31B-4296-15BC-509A266A9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52709B2A-381B-8483-71C8-F93A156969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CA5D26C-7BE6-3453-2387-02AEF62757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8C4A01E-0C79-AE80-18B6-A14F717F6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A2176-9FF2-4D08-8957-9726144C4418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428B001-40BD-B6B7-71B0-E6D18D3B2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4CCDB46-81DA-BE9F-BFF0-DD952E260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2CBDE-E393-4847-B9F1-B7BF5FA244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6621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41D3C2-D8E5-C5E3-5570-B87AE491F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1047E57-F6AF-66A1-A0C7-F0B77BA873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98E898E-B3D4-8A2E-6529-2EB3A0C6EF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A2176-9FF2-4D08-8957-9726144C4418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566EDE2-4532-988B-A23D-93D3093529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180B4E2-9967-D78E-0B6C-E6AE0E1BF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2CBDE-E393-4847-B9F1-B7BF5FA244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5090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E3BDB2B5-FA53-8405-F022-635673DABD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7A9954D-A84C-756F-C6AF-49E799B49E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229EB51-2F52-9A9B-97AD-EE5262C72D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A2176-9FF2-4D08-8957-9726144C4418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C8087BA-6112-7B96-C106-42DC70C78D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48A44BA-81BC-BAFE-95E5-472B076CB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2CBDE-E393-4847-B9F1-B7BF5FA244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475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1350DF-0293-D20E-1F2B-2ADF126369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35BA12B-029B-989B-3682-1881B53BE0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306CB88-E4D0-E07E-A208-D7A65ABCF4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0A2176-9FF2-4D08-8957-9726144C4418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4E78BE1-81E4-56AA-EB23-A3C84F6B5C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0B8D791-B77C-39C7-BD9D-04A29735CF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A2CBDE-E393-4847-B9F1-B7BF5FA244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56212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C508A5-E647-4238-42A2-F6D8C68BD04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NN and AI applications in </a:t>
            </a:r>
            <a:r>
              <a:rPr lang="en-US" dirty="0" err="1"/>
              <a:t>ISALab</a:t>
            </a:r>
            <a:r>
              <a:rPr lang="en-US" dirty="0"/>
              <a:t> projects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15275E9-4362-3880-D8AE-03E2184D683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7549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E1684F-25C5-EBB3-771B-2EF0583968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2E71DB-B6E4-05FF-68A2-1576E4E7E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Embedding based approaches</a:t>
            </a:r>
          </a:p>
        </p:txBody>
      </p:sp>
      <p:pic>
        <p:nvPicPr>
          <p:cNvPr id="5" name="Объект 4" descr="Изображение выглядит как текст, рукописный текст, Самоклеющийся листок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8BE1285-8179-66E3-7D86-54CD35E913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753083"/>
            <a:ext cx="10515600" cy="4104917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BCA17B4-E38F-E15D-0FB3-E4A6E7AEA8F1}"/>
              </a:ext>
            </a:extLst>
          </p:cNvPr>
          <p:cNvSpPr txBox="1"/>
          <p:nvPr/>
        </p:nvSpPr>
        <p:spPr>
          <a:xfrm>
            <a:off x="838200" y="1690688"/>
            <a:ext cx="1004038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Adopting various embeddings to be used in predicting CDR3 features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Biology associated </a:t>
            </a:r>
            <a:r>
              <a:rPr lang="en-US" sz="2400" dirty="0" err="1"/>
              <a:t>TCREmP</a:t>
            </a:r>
            <a:r>
              <a:rPr lang="en-US" sz="2400" dirty="0"/>
              <a:t> embeddings lack speed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Fine-tuning of autoencoder protein models for T/B cells</a:t>
            </a:r>
          </a:p>
        </p:txBody>
      </p:sp>
    </p:spTree>
    <p:extLst>
      <p:ext uri="{BB962C8B-B14F-4D97-AF65-F5344CB8AC3E}">
        <p14:creationId xmlns:p14="http://schemas.microsoft.com/office/powerpoint/2010/main" val="33087645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E6244C-A264-DCF1-96DD-90B2DE49A5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Embedding based approaches</a:t>
            </a:r>
          </a:p>
        </p:txBody>
      </p:sp>
      <p:pic>
        <p:nvPicPr>
          <p:cNvPr id="7" name="Рисунок 6" descr="Изображение выглядит как текст, Шрифт, линия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90C05FF-02A5-740F-D5A4-2A046418D3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" y="4457148"/>
            <a:ext cx="12192000" cy="2311400"/>
          </a:xfrm>
          <a:prstGeom prst="rect">
            <a:avLst/>
          </a:prstGeom>
        </p:spPr>
      </p:pic>
      <p:sp>
        <p:nvSpPr>
          <p:cNvPr id="9" name="Объект 8">
            <a:extLst>
              <a:ext uri="{FF2B5EF4-FFF2-40B4-BE49-F238E27FC236}">
                <a16:creationId xmlns:a16="http://schemas.microsoft.com/office/drawing/2014/main" id="{F8E2DC37-6D1E-C9F5-B91D-1771BD81CF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Cluster donors in embedding space and surface rare/atypical immune portraits</a:t>
            </a:r>
          </a:p>
          <a:p>
            <a:r>
              <a:rPr lang="en-US" dirty="0"/>
              <a:t>Patient-level embeddings</a:t>
            </a:r>
          </a:p>
          <a:p>
            <a:r>
              <a:rPr lang="en-US" dirty="0"/>
              <a:t>Utilize CDR3 embeddings via creating a joint vector and dimensionality reduction</a:t>
            </a:r>
          </a:p>
          <a:p>
            <a:r>
              <a:rPr lang="en-US" dirty="0"/>
              <a:t>Predicting donor status and generating new donor data</a:t>
            </a:r>
          </a:p>
        </p:txBody>
      </p:sp>
    </p:spTree>
    <p:extLst>
      <p:ext uri="{BB962C8B-B14F-4D97-AF65-F5344CB8AC3E}">
        <p14:creationId xmlns:p14="http://schemas.microsoft.com/office/powerpoint/2010/main" val="29019712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0322327-CF68-212B-9531-CAC31385E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AI-driven extracting and summarizing antigen receptor gene rearrangements</a:t>
            </a:r>
          </a:p>
        </p:txBody>
      </p:sp>
      <p:pic>
        <p:nvPicPr>
          <p:cNvPr id="9" name="Объект 8" descr="Изображение выглядит как текст, Шрифт, линия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BB2F913-A212-C34F-49A9-76B7939597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4246844"/>
            <a:ext cx="10515600" cy="2157888"/>
          </a:xfrm>
        </p:spPr>
      </p:pic>
      <p:sp>
        <p:nvSpPr>
          <p:cNvPr id="10" name="Объект 8">
            <a:extLst>
              <a:ext uri="{FF2B5EF4-FFF2-40B4-BE49-F238E27FC236}">
                <a16:creationId xmlns:a16="http://schemas.microsoft.com/office/drawing/2014/main" id="{55E136A1-B56D-9142-8827-B2B07F5A288A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Robustly locate CDR3 regions and flag VDJ junctions in noisy reads</a:t>
            </a:r>
          </a:p>
          <a:p>
            <a:r>
              <a:rPr lang="en-US" dirty="0"/>
              <a:t>Speed-up Rep/RNA- sequencing raw data alignment via GPU</a:t>
            </a:r>
          </a:p>
          <a:p>
            <a:r>
              <a:rPr lang="en-US" dirty="0"/>
              <a:t>Creating a VDJ junction presence classifier</a:t>
            </a:r>
          </a:p>
          <a:p>
            <a:r>
              <a:rPr lang="en-US" dirty="0"/>
              <a:t>Further, a task of read segmentation is planned to be solved</a:t>
            </a:r>
          </a:p>
        </p:txBody>
      </p:sp>
    </p:spTree>
    <p:extLst>
      <p:ext uri="{BB962C8B-B14F-4D97-AF65-F5344CB8AC3E}">
        <p14:creationId xmlns:p14="http://schemas.microsoft.com/office/powerpoint/2010/main" val="38058987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014D60-7AFC-CBE9-585B-BC3F735EA5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HLA‑aware TRA+TRB motif pairing</a:t>
            </a:r>
          </a:p>
        </p:txBody>
      </p:sp>
      <p:pic>
        <p:nvPicPr>
          <p:cNvPr id="5" name="Объект 4" descr="Изображение выглядит как текст, Самоклеющийся листок, Шрифт, лин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E5F3E6D-DAAC-164B-42CD-C016E2E54C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5375" y="3176981"/>
            <a:ext cx="7491316" cy="3548621"/>
          </a:xfrm>
        </p:spPr>
      </p:pic>
      <p:sp>
        <p:nvSpPr>
          <p:cNvPr id="7" name="Объект 8">
            <a:extLst>
              <a:ext uri="{FF2B5EF4-FFF2-40B4-BE49-F238E27FC236}">
                <a16:creationId xmlns:a16="http://schemas.microsoft.com/office/drawing/2014/main" id="{73CE18D2-33FC-07CB-5D40-2A1682AB6233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Imprinting the HLA context into TRA+TRB embeddings to create a contrastive learning model</a:t>
            </a:r>
          </a:p>
          <a:p>
            <a:r>
              <a:rPr lang="en-US" dirty="0"/>
              <a:t>Learn pairing preferences between TRA/TRB motifs conditioned on HLA</a:t>
            </a:r>
          </a:p>
        </p:txBody>
      </p:sp>
    </p:spTree>
    <p:extLst>
      <p:ext uri="{BB962C8B-B14F-4D97-AF65-F5344CB8AC3E}">
        <p14:creationId xmlns:p14="http://schemas.microsoft.com/office/powerpoint/2010/main" val="42032029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1A1C90-EF1B-8041-809A-B0D25AE54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Conditional generative model for TCR landscape analysis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A9BA4971-8FF7-8D41-269A-B2A9B3E5CF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4547466"/>
            <a:ext cx="10515600" cy="985837"/>
          </a:xfrm>
        </p:spPr>
      </p:pic>
      <p:sp>
        <p:nvSpPr>
          <p:cNvPr id="6" name="Объект 8">
            <a:extLst>
              <a:ext uri="{FF2B5EF4-FFF2-40B4-BE49-F238E27FC236}">
                <a16:creationId xmlns:a16="http://schemas.microsoft.com/office/drawing/2014/main" id="{C8E5F31F-86DA-68BD-3558-D058AAA401FD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Learn joint embeddings for CDR3 and epitopes</a:t>
            </a:r>
          </a:p>
          <a:p>
            <a:r>
              <a:rPr lang="en-US" dirty="0"/>
              <a:t>Predict compatible MHCs; </a:t>
            </a:r>
          </a:p>
          <a:p>
            <a:r>
              <a:rPr lang="en-US" dirty="0"/>
              <a:t>Generate TCR candidates for specific MHC context and epitope</a:t>
            </a:r>
          </a:p>
        </p:txBody>
      </p:sp>
    </p:spTree>
    <p:extLst>
      <p:ext uri="{BB962C8B-B14F-4D97-AF65-F5344CB8AC3E}">
        <p14:creationId xmlns:p14="http://schemas.microsoft.com/office/powerpoint/2010/main" val="16600963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43C125-8079-FB1E-8D03-0475A376DB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AI-based </a:t>
            </a:r>
            <a:r>
              <a:rPr lang="en-US" dirty="0" err="1"/>
              <a:t>VDJdb</a:t>
            </a:r>
            <a:r>
              <a:rPr lang="en-US" dirty="0"/>
              <a:t> hits ranking </a:t>
            </a:r>
          </a:p>
        </p:txBody>
      </p:sp>
      <p:pic>
        <p:nvPicPr>
          <p:cNvPr id="5" name="Объект 4" descr="Изображение выглядит как текст, линия, Шрифт, диаграмм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2451F9C-D711-A6C7-81C4-16087D3CBB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429000"/>
            <a:ext cx="10515600" cy="3283386"/>
          </a:xfrm>
        </p:spPr>
      </p:pic>
      <p:sp>
        <p:nvSpPr>
          <p:cNvPr id="6" name="Объект 8">
            <a:extLst>
              <a:ext uri="{FF2B5EF4-FFF2-40B4-BE49-F238E27FC236}">
                <a16:creationId xmlns:a16="http://schemas.microsoft.com/office/drawing/2014/main" id="{17A5371F-8DE5-22D1-7B4F-A1F64E8B082B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Combine alignment scores, embedding similarities, immunogenicity, single‑cell phenotypes</a:t>
            </a:r>
          </a:p>
          <a:p>
            <a:r>
              <a:rPr lang="en-US" dirty="0"/>
              <a:t>Create ranked hits with calibrated P(match).</a:t>
            </a:r>
          </a:p>
        </p:txBody>
      </p:sp>
    </p:spTree>
    <p:extLst>
      <p:ext uri="{BB962C8B-B14F-4D97-AF65-F5344CB8AC3E}">
        <p14:creationId xmlns:p14="http://schemas.microsoft.com/office/powerpoint/2010/main" val="326783132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206</Words>
  <Application>Microsoft Office PowerPoint</Application>
  <PresentationFormat>Широкоэкранный</PresentationFormat>
  <Paragraphs>25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Тема Office</vt:lpstr>
      <vt:lpstr>NN and AI applications in ISALab projects</vt:lpstr>
      <vt:lpstr>Embedding based approaches</vt:lpstr>
      <vt:lpstr>Embedding based approaches</vt:lpstr>
      <vt:lpstr>AI-driven extracting and summarizing antigen receptor gene rearrangements</vt:lpstr>
      <vt:lpstr>HLA‑aware TRA+TRB motif pairing</vt:lpstr>
      <vt:lpstr>Conditional generative model for TCR landscape analysis</vt:lpstr>
      <vt:lpstr>AI-based VDJdb hits ranking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Elizabeth Vlasova</dc:creator>
  <cp:lastModifiedBy>Elizabeth Vlasova</cp:lastModifiedBy>
  <cp:revision>1</cp:revision>
  <dcterms:created xsi:type="dcterms:W3CDTF">2025-09-18T20:01:34Z</dcterms:created>
  <dcterms:modified xsi:type="dcterms:W3CDTF">2025-09-18T21:08:45Z</dcterms:modified>
</cp:coreProperties>
</file>